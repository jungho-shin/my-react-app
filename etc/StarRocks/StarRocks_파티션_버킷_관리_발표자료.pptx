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640080"/>
            <a:ext cx="1463040" cy="1325880"/>
          </a:xfrm>
          <a:prstGeom prst="hexagon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1737360"/>
            <a:ext cx="1005840" cy="914400"/>
          </a:xfrm>
          <a:prstGeom prst="hexagon">
            <a:avLst/>
          </a:prstGeom>
          <a:solidFill>
            <a:srgbClr val="CADCFC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2103120"/>
            <a:ext cx="731520" cy="658368"/>
          </a:xfrm>
          <a:prstGeom prst="hexagon">
            <a:avLst/>
          </a:prstGeom>
          <a:solidFill>
            <a:srgbClr val="CADCFC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120640"/>
            <a:ext cx="1188720" cy="1078992"/>
          </a:xfrm>
          <a:prstGeom prst="hexagon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5760720"/>
            <a:ext cx="731520" cy="658368"/>
          </a:xfrm>
          <a:prstGeom prst="hexagon">
            <a:avLst/>
          </a:prstGeom>
          <a:solidFill>
            <a:srgbClr val="CADCFC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881360" y="5394960"/>
            <a:ext cx="1097280" cy="987552"/>
          </a:xfrm>
          <a:prstGeom prst="hexagon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STARROCKS OPS STUDY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 &amp; 버킷 관리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컴팩션 문제를 예방하는 태블릿 운영 기준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22960" y="4206240"/>
            <a:ext cx="5669280" cy="566928"/>
          </a:xfrm>
          <a:prstGeom prst="roundRect">
            <a:avLst>
              <a:gd name="adj" fmla="val 16129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0624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기준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파티션당 버킷 10~120개  ·  태블릿 1~10GB 유지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 |  데이터플랫폼 운영 스터디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먼저, 파티션 · 버킷 · 태블릿의 관계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StarRocks는 데이터를 2단계로 분할합니다 — 파티션(시간 등 논리 분할) → 버킷(해시/랜덤 분산)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889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3017520"/>
            <a:ext cx="685800" cy="36576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3566160" y="173736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EAF1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73736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p20260810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66160" y="278892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EAF1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78892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p20260811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384048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EAF1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38404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p20260812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3017520"/>
            <a:ext cx="685800" cy="36576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537960" y="2057400"/>
            <a:ext cx="2103120" cy="749808"/>
          </a:xfrm>
          <a:prstGeom prst="roundRect">
            <a:avLst>
              <a:gd name="adj" fmla="val 9756"/>
            </a:avLst>
          </a:prstGeom>
          <a:solidFill>
            <a:srgbClr val="1E2761">
              <a:alpha val="9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205740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BUCKET 1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Tablet (물리 단위)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971800"/>
            <a:ext cx="2103120" cy="749808"/>
          </a:xfrm>
          <a:prstGeom prst="roundRect">
            <a:avLst>
              <a:gd name="adj" fmla="val 9756"/>
            </a:avLst>
          </a:prstGeom>
          <a:solidFill>
            <a:srgbClr val="1E2761">
              <a:alpha val="9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97180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BUCKET 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Tablet (물리 단위)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37960" y="3886200"/>
            <a:ext cx="2103120" cy="749808"/>
          </a:xfrm>
          <a:prstGeom prst="roundRect">
            <a:avLst>
              <a:gd name="adj" fmla="val 9756"/>
            </a:avLst>
          </a:prstGeom>
          <a:solidFill>
            <a:srgbClr val="1E2761">
              <a:alpha val="9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88620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BUCKET 3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Tablet (물리 단위)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78240" y="3017520"/>
            <a:ext cx="685800" cy="36576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3" name="Shape 21"/>
          <p:cNvSpPr/>
          <p:nvPr/>
        </p:nvSpPr>
        <p:spPr>
          <a:xfrm>
            <a:off x="9646920" y="2057400"/>
            <a:ext cx="1920240" cy="749808"/>
          </a:xfrm>
          <a:prstGeom prst="roundRect">
            <a:avLst>
              <a:gd name="adj" fmla="val 9756"/>
            </a:avLst>
          </a:prstGeom>
          <a:solidFill>
            <a:srgbClr val="E8F6EF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46920" y="20574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 1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분산 저장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46920" y="2971800"/>
            <a:ext cx="1920240" cy="749808"/>
          </a:xfrm>
          <a:prstGeom prst="roundRect">
            <a:avLst>
              <a:gd name="adj" fmla="val 9756"/>
            </a:avLst>
          </a:prstGeom>
          <a:solidFill>
            <a:srgbClr val="E8F6EF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29718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 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분산 저장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46920" y="3886200"/>
            <a:ext cx="1920240" cy="749808"/>
          </a:xfrm>
          <a:prstGeom prst="roundRect">
            <a:avLst>
              <a:gd name="adj" fmla="val 9756"/>
            </a:avLst>
          </a:prstGeom>
          <a:solidFill>
            <a:srgbClr val="E8F6EF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38862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 3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분산 저장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6235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EAF1FD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6235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= 버킷의 물리적 단위이자 복제·이동·컴팩션의 최소 단위.  총 태블릿 수 = 파티션 수 × 버킷 수 × 복제본 수 → 파티션·버킷 설계가 곧 태블릿 개수를 결정합니다.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기준 — 초록불 범위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611880" cy="2834640"/>
          </a:xfrm>
          <a:prstGeom prst="roundRect">
            <a:avLst>
              <a:gd name="adj" fmla="val 3871"/>
            </a:avLst>
          </a:prstGeom>
          <a:solidFill>
            <a:srgbClr val="EAF1FD"/>
          </a:solidFill>
          <a:ln/>
          <a:effectLst>
            <a:outerShdw sx="100000" sy="100000" kx="0" ky="0" algn="bl" rotWithShape="0" blurRad="76200" dist="25400" dir="5400000">
              <a:srgbClr val="AAB4C4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6916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120개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파티션당 버킷 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버킷이 너무 적으면 병렬성·적재 성능 저하, 너무 많으면 메타데이터와 작은 파일이 폭증합니다.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26280" y="1463040"/>
            <a:ext cx="3611880" cy="2834640"/>
          </a:xfrm>
          <a:prstGeom prst="roundRect">
            <a:avLst>
              <a:gd name="adj" fmla="val 3871"/>
            </a:avLst>
          </a:prstGeom>
          <a:solidFill>
            <a:srgbClr val="EAF1FD"/>
          </a:solidFill>
          <a:ln/>
          <a:effectLst>
            <a:outerShdw sx="100000" sy="100000" kx="0" ky="0" algn="bl" rotWithShape="0" blurRad="76200" dist="25400" dir="5400000">
              <a:srgbClr val="AAB4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6916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~ 10 GB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4880" y="2606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1개당 크기 (압축 기준)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30632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문서 권장 범위. 이 범위를 유지하도록 버킷 수를 산정하고, 벗어나면 조정합니다.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0" y="1463040"/>
            <a:ext cx="3611880" cy="2834640"/>
          </a:xfrm>
          <a:prstGeom prst="roundRect">
            <a:avLst>
              <a:gd name="adj" fmla="val 3871"/>
            </a:avLst>
          </a:prstGeom>
          <a:solidFill>
            <a:srgbClr val="EAF1FD"/>
          </a:solidFill>
          <a:ln/>
          <a:effectLst>
            <a:outerShdw sx="100000" sy="100000" kx="0" ky="0" algn="bl" rotWithShape="0" blurRad="76200" dist="25400" dir="5400000">
              <a:srgbClr val="AAB4C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16916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BE수 × 코어 ÷ 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641080" y="2606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버킷 수 산정 참고 공식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0" y="30632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클러스터에서 자원 활용을 극대화할 때의 참고치. 데이터량 기반 산정과 병행합니다.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1092708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버킷 수 산정 예시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 예상 데이터 500GB(압축) ÷ 목표 태블릿 5GB = </a:t>
            </a:r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버킷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권장 범위(10~120개) 안이므로 OK.  범위를 넘으면 파티션 단위를 더 잘게(일→시간 등) 나눕니다.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빨간불 기준 — 즉시 점검 대상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FDEDEB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73736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 노드당 태블릿 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377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200,000개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005840" y="338328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메타데이터·메모리 사용량 급증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컴팩션 대상 폭증 → 스케줄링 지연·병목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태블릿별 memtable 등 적재 오버헤드 누적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141732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FDEDEB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173736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4066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1개 크기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66560" y="2377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10 GB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812280" y="338328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컴팩션 작업이 장시간·대용량화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복제본 복구(Clone)·밸런싱 시간 증가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쿼리 병렬성 저하로 조회 성능 악화 가능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715000"/>
            <a:ext cx="10927080" cy="68580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7150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결과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경우 모두 컴팩션이 적재 속도를 따라가지 못해 버전(rowset) 누적 → 적재 실패·조회 지연으로 이어질 수 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컴팩션 문제로 이어지는가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컴팩션 동작 원리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6642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적재(Load)할 때마다 태블릿에 새 버전(rowset) 생성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2194560"/>
            <a:ext cx="0" cy="566928"/>
          </a:xfrm>
          <a:prstGeom prst="line">
            <a:avLst/>
          </a:prstGeom>
          <a:noFill/>
          <a:ln w="25400">
            <a:solidFill>
              <a:srgbClr val="CADCFC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0080" y="2761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6883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버전이 쌓일수록 조회 시 읽어야 할 파일 수 증가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3218688"/>
            <a:ext cx="0" cy="566928"/>
          </a:xfrm>
          <a:prstGeom prst="line">
            <a:avLst/>
          </a:prstGeom>
          <a:noFill/>
          <a:ln w="25400">
            <a:solidFill>
              <a:srgbClr val="CADCF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40080" y="37856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371246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컴팩션이 작은 버전들을 큰 파일로 병합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4242816"/>
            <a:ext cx="0" cy="566928"/>
          </a:xfrm>
          <a:prstGeom prst="line">
            <a:avLst/>
          </a:prstGeom>
          <a:noFill/>
          <a:ln w="25400">
            <a:solidFill>
              <a:srgbClr val="CADCFC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40080" y="48097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160" y="473659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속도 &lt; 적재 속도 → Compaction Score 상승, 장애 위험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1264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상태가 컴팩션에 미치는 영향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26480" y="173736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9770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847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7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태블릿이 너무 많으면 (과다)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태블릿마다 독립적으로 컴팩션이 돌기 때문에 CPU·I/O·메모리 오버헤드가 배수로 증가하고, FE 메타데이터가 비대해져 스케줄링 자체가 병목이 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6480" y="333756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447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태블릿이 너무 크면 (&gt;10GB)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컴팩션이 수십 GB를 다시 쓰는 작업이 되어 오래 걸리고 실패·재시도가 잦아지며, 그동안 버전이 계속 누적됩니다.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502920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EAF1FD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50292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Compaction Score가 높을수록 병합이 지연된 상태. 공식 알림 가이드는 최대 스코어 100 초과 시 경보를 권장합니다.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클러스터 진단하기 — 점검 쿼리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27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17720"/>
                <a:gridCol w="39319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 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명령어 / 방법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포인트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BE별 태블릿 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PROC '/backends';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TabletNum 이 노드당 20만 개에 근접하는지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테이블·파티션별 버킷 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PARTITIONS FROM &lt;table&gt;;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Buckets 가 10~120 범위인지, DataSize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태블릿 평균 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DataSize ÷ Buckets (÷ 복제본 수)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파티션별 평균 태블릿이 1~10GB인지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태블릿 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TABLET FROM &lt;table&gt;;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DataSize 10GB 초과 태블릿 존재 여부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컴팩션 압력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SHOW PROC '/compactions';  + Grafana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Compaction Score 추이, 100 초과 경보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D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669280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E8F6EF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669280"/>
            <a:ext cx="10378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팁  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쿼리를 배치화하여 주간 리포트로 자동 수집하면, 빨간불 기준 도달 전에 추세로 미리 감지할 수 있습니다.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 — 상황별 처방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36118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B9770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45920"/>
            <a:ext cx="3154680" cy="502920"/>
          </a:xfrm>
          <a:prstGeom prst="roundRect">
            <a:avLst>
              <a:gd name="adj" fmla="val 14545"/>
            </a:avLst>
          </a:prstGeom>
          <a:solidFill>
            <a:srgbClr val="B9770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459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태블릿이 과다할 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파티션 삭제·TTL(partition_ttl) 적용으로 총량 축소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버킷 수가 과한 테이블은 ALTER TABLE로 버킷 축소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소용량 테이블은 파티셔닝 없이 단순 설계 유지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118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645920"/>
            <a:ext cx="3154680" cy="502920"/>
          </a:xfrm>
          <a:prstGeom prst="roundRect">
            <a:avLst>
              <a:gd name="adj" fmla="val 14545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6459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태블릿이 과대할 때 (&gt;10GB)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233172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ALTER TABLE ... DISTRIBUTED BY 로 버킷 수 증가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 단위 세분화 (월 → 일, 일 → 시간)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버킷 키 데이터 쏠림(skew) 여부 점검 후 키 변경 검토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0" y="1417320"/>
            <a:ext cx="36118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41080" y="1645920"/>
            <a:ext cx="3154680" cy="502920"/>
          </a:xfrm>
          <a:prstGeom prst="roundRect">
            <a:avLst>
              <a:gd name="adj" fmla="val 14545"/>
            </a:avLst>
          </a:prstGeom>
          <a:solidFill>
            <a:srgbClr val="1E8449"/>
          </a:solidFill>
          <a:ln/>
        </p:spPr>
      </p:sp>
      <p:sp>
        <p:nvSpPr>
          <p:cNvPr id="15" name="Text 13"/>
          <p:cNvSpPr/>
          <p:nvPr/>
        </p:nvSpPr>
        <p:spPr>
          <a:xfrm>
            <a:off x="8641080" y="16459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단계 예방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732520" y="233172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버킷 수 미지정 시 자동 산정 활용 (v3.x 이후)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Duplicate Key 테이블은 랜덤 버킷 + bucket_size 설정으로 자동 분할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고카디널리티 컬럼을 버킷 키로 선택해 skew 방지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892040"/>
            <a:ext cx="10927080" cy="1463040"/>
          </a:xfrm>
          <a:prstGeom prst="roundRect">
            <a:avLst>
              <a:gd name="adj" fmla="val 6250"/>
            </a:avLst>
          </a:prstGeom>
          <a:solidFill>
            <a:srgbClr val="141B45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2920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버킷 수 조정 (신규 생성되는 파티션부터 적용)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orders DISTRIBUTED BY HASH(user_id) BUCKETS 60;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랜덤 버킷 + 1GB 단위 자동 분할 (Duplicate Key, v3.2+)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logs (...) DUPLICATE KEY(dt) PARTITION BY date_trunc('day', dt) PROPERTIES("bucket_size"="1073741824");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292608"/>
            <a:ext cx="384048" cy="347472"/>
          </a:xfrm>
          <a:prstGeom prst="hexagon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27080" y="502920"/>
            <a:ext cx="274320" cy="246888"/>
          </a:xfrm>
          <a:prstGeom prst="hexagon">
            <a:avLst/>
          </a:prstGeom>
          <a:solidFill>
            <a:srgbClr val="1E276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체크리스트 &amp; 모니터링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2700">
            <a:solidFill>
              <a:srgbClr val="D5DE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764792"/>
            <a:ext cx="868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15727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BE별 TabletNum 추세 확인 — 20만 개 대비 여유율 관리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1764792"/>
            <a:ext cx="868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6479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43800" y="15727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대용량 테이블의 파티션당 버킷 수(10~120) 검수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8346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2700">
            <a:solidFill>
              <a:srgbClr val="D5DE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136392"/>
            <a:ext cx="868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13639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29443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파티션별 평균 태블릿 크기 산출 — 1~10GB 이탈 테이블 리스트업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28346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0" y="3136392"/>
            <a:ext cx="868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13639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43800" y="29443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Grafana에서 Compaction Score 대시보드 + 100 초과 경보 설정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 w="12700">
            <a:solidFill>
              <a:srgbClr val="D5DE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507992"/>
            <a:ext cx="868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0799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20240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버전(rowset) 수 경보 — BE당 최대 버전 700 초과 시 알림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420624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507992"/>
            <a:ext cx="868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450799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43800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신규 생성·대량 적재 전 버킷 설계 리뷰를 필수 절차화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임계값 참고: StarRocks 공식 Monitor &amp; Alert 가이드 (Compaction Score &gt; 100, tablet max versions &gt; 700)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457200"/>
            <a:ext cx="1280160" cy="1152144"/>
          </a:xfrm>
          <a:prstGeom prst="hexagon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6035040"/>
            <a:ext cx="822960" cy="731520"/>
          </a:xfrm>
          <a:prstGeom prst="hexagon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&amp; 액션 아이템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155448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내재화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파티션당 버킷 10~120개, 태블릿 1~10GB를 팀 설계 표준으로 문서화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65176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91640" y="260604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진단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SHOW PROC '/backends' 등으로 BE별 태블릿 수·크기 전수 점검 (이번 주)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70332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03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6576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구축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Grafana에 TabletNum·Compaction Score 대시보드와 경보 추가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75488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91640" y="47091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실행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빨간불 테이블부터 버킷 조정·파티션 세분화·TTL 적용 순차 진행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5943600"/>
            <a:ext cx="1051560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“태블릿 개수와 크기를 관리하는 것이 곧 컴팩션과 클러스터 안정성을 관리하는 것”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117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2026-08-11T21:54:31Z</dcterms:created>
  <dcterms:modified xsi:type="dcterms:W3CDTF">2026-08-11T21:54:31Z</dcterms:modified>
</cp:coreProperties>
</file>