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7" r:id="rId4"/>
    <p:sldId id="268" r:id="rId5"/>
    <p:sldId id="269" r:id="rId6"/>
    <p:sldId id="258" r:id="rId7"/>
    <p:sldId id="259" r:id="rId8"/>
    <p:sldId id="260" r:id="rId9"/>
    <p:sldId id="265" r:id="rId10"/>
    <p:sldId id="266" r:id="rId11"/>
    <p:sldId id="261" r:id="rId12"/>
    <p:sldId id="262" r:id="rId13"/>
    <p:sldId id="263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F5DA5-C772-4202-9802-6370787D7DF9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BDFB3-97E8-492D-9299-D2CCC9E49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90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"/>
          <p:cNvSpPr/>
          <p:nvPr/>
        </p:nvSpPr>
        <p:spPr>
          <a:xfrm>
            <a:off x="914400" y="1508760"/>
            <a:ext cx="10363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4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StarRocks 파티션·버킷 관리 기준</a:t>
            </a:r>
            <a:endParaRPr lang="en-US" sz="40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수·크기 관리를 통한 컴팩션 안정성 확보</a:t>
            </a:r>
            <a:endParaRPr lang="en-US" sz="1800" dirty="0"/>
          </a:p>
        </p:txBody>
      </p:sp>
      <p:sp>
        <p:nvSpPr>
          <p:cNvPr id="4" name="Line"/>
          <p:cNvSpPr/>
          <p:nvPr/>
        </p:nvSpPr>
        <p:spPr>
          <a:xfrm>
            <a:off x="914400" y="3383280"/>
            <a:ext cx="10363200" cy="19050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5" name="Text"/>
          <p:cNvSpPr/>
          <p:nvPr/>
        </p:nvSpPr>
        <p:spPr>
          <a:xfrm>
            <a:off x="914400" y="4312920"/>
            <a:ext cx="10363200" cy="90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b="1" dirty="0" err="1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</a:t>
            </a:r>
            <a:r>
              <a:rPr lang="en-US" sz="13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파티션당 버킷 10~120개 · 태블릿 1~10GB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시나리오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일 단위 파티션 · 버킷 32 · 복제본 3 · 보관 2년(730일) → 총 태블릿 70,080개</a:t>
            </a:r>
            <a:endParaRPr lang="en-US" sz="13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StarRocks 공식 문서 — Data Distribution, Monitor &amp; Alert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/>
          <p:cNvSpPr/>
          <p:nvPr/>
        </p:nvSpPr>
        <p:spPr>
          <a:xfrm>
            <a:off x="6355080" y="1660358"/>
            <a:ext cx="5438274" cy="3633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376989" y="1660358"/>
            <a:ext cx="5438274" cy="36335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먼저, 파티션 · 버킷 · 태블릿의 관계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StarRocks는 데이터를 2단계로 분할합니다 — 파티션(시간 등 논리 분할) → 버킷(해시/랜덤 분산)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36174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3617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97480" y="3464774"/>
            <a:ext cx="685800" cy="36576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2184614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184614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p20260810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3236174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236174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p20260811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4287734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5F6F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4287734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p20260812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3464774"/>
            <a:ext cx="685800" cy="36576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37960" y="2504654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1E2761">
              <a:alpha val="9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50465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BUCKET 1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Tablet (물리 단위)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3419054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1E2761">
              <a:alpha val="9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41905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BUCKET 2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Tablet (물리 단위)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4333454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1E2761">
              <a:alpha val="9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3345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BUCKET 3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Tablet (물리 단위)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78240" y="3464774"/>
            <a:ext cx="685800" cy="36576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9646920" y="2504654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E8F6E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46920" y="250465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1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분산 저장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46920" y="2596094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E8F6E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259609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2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분산 저장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46920" y="4333454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E8F6E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433345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</a:t>
            </a:r>
            <a:r>
              <a:rPr lang="en-US" sz="1200" b="1" dirty="0" smtClean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분산 저장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62356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요점  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= 버킷의 물리적 단위이자 복제·이동·컴팩션의 최소 단위.  총 태블릿 수 = 파티션 수 × 버킷 수 × 복제본 수 → 파티션·버킷 설계가 곧 태블릿 개수를 결정합니다.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"/>
          <p:cNvSpPr/>
          <p:nvPr/>
        </p:nvSpPr>
        <p:spPr>
          <a:xfrm>
            <a:off x="2563929" y="1777466"/>
            <a:ext cx="1064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b="1" dirty="0" err="1">
                <a:solidFill>
                  <a:srgbClr val="2E86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</a:t>
            </a:r>
            <a:r>
              <a:rPr lang="en-US" b="1" dirty="0">
                <a:solidFill>
                  <a:srgbClr val="2E86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b="1" dirty="0" err="1" smtClean="0">
                <a:solidFill>
                  <a:srgbClr val="2E86C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400" b="1" dirty="0"/>
          </a:p>
        </p:txBody>
      </p:sp>
      <p:sp>
        <p:nvSpPr>
          <p:cNvPr id="40" name="Text"/>
          <p:cNvSpPr/>
          <p:nvPr/>
        </p:nvSpPr>
        <p:spPr>
          <a:xfrm>
            <a:off x="8542020" y="1777466"/>
            <a:ext cx="1064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b="1" dirty="0" err="1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</a:t>
            </a:r>
            <a:r>
              <a:rPr lang="en-US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b="1" dirty="0" err="1" smtClean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400" b="1" dirty="0"/>
          </a:p>
        </p:txBody>
      </p:sp>
      <p:sp>
        <p:nvSpPr>
          <p:cNvPr id="41" name="Shape 21"/>
          <p:cNvSpPr/>
          <p:nvPr/>
        </p:nvSpPr>
        <p:spPr>
          <a:xfrm>
            <a:off x="9658149" y="2684326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E8F6E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22"/>
          <p:cNvSpPr/>
          <p:nvPr/>
        </p:nvSpPr>
        <p:spPr>
          <a:xfrm>
            <a:off x="9658149" y="268432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1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분산 저장</a:t>
            </a:r>
            <a:endParaRPr lang="en-US" sz="1200" dirty="0"/>
          </a:p>
        </p:txBody>
      </p:sp>
      <p:sp>
        <p:nvSpPr>
          <p:cNvPr id="43" name="Shape 23"/>
          <p:cNvSpPr/>
          <p:nvPr/>
        </p:nvSpPr>
        <p:spPr>
          <a:xfrm>
            <a:off x="9658149" y="2775766"/>
            <a:ext cx="1920240" cy="749808"/>
          </a:xfrm>
          <a:prstGeom prst="roundRect">
            <a:avLst>
              <a:gd name="adj" fmla="val 9756"/>
            </a:avLst>
          </a:prstGeom>
          <a:solidFill>
            <a:srgbClr val="E8F6E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4" name="Text 24"/>
          <p:cNvSpPr/>
          <p:nvPr/>
        </p:nvSpPr>
        <p:spPr>
          <a:xfrm>
            <a:off x="9658149" y="277576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</a:t>
            </a:r>
            <a:r>
              <a:rPr lang="en-US" sz="1200" b="1" dirty="0" smtClean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분산 저장</a:t>
            </a:r>
            <a:endParaRPr lang="en-US" sz="1200" dirty="0"/>
          </a:p>
        </p:txBody>
      </p:sp>
      <p:sp>
        <p:nvSpPr>
          <p:cNvPr id="45" name="Text"/>
          <p:cNvSpPr/>
          <p:nvPr/>
        </p:nvSpPr>
        <p:spPr>
          <a:xfrm>
            <a:off x="10074843" y="3751928"/>
            <a:ext cx="10643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 smtClean="0"/>
              <a:t>…</a:t>
            </a:r>
            <a:endParaRPr lang="en-US" sz="1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태블릿(Tablet)이란 무엇인가</a:t>
            </a:r>
            <a:endParaRPr lang="en-US" sz="3000" dirty="0"/>
          </a:p>
        </p:txBody>
      </p:sp>
      <p:sp>
        <p:nvSpPr>
          <p:cNvPr id="7" name="Shape"/>
          <p:cNvSpPr/>
          <p:nvPr/>
        </p:nvSpPr>
        <p:spPr>
          <a:xfrm>
            <a:off x="640080" y="1805940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8" name="Text"/>
          <p:cNvSpPr/>
          <p:nvPr/>
        </p:nvSpPr>
        <p:spPr>
          <a:xfrm>
            <a:off x="845820" y="19431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저장 단위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디스크의 디렉터리와 rowset(.dat) 파일들로 존재. 논리 개념인 파티션·버킷과 달리 실체가 있습니다.</a:t>
            </a:r>
            <a:endParaRPr lang="en-US" sz="1050" dirty="0"/>
          </a:p>
        </p:txBody>
      </p:sp>
      <p:sp>
        <p:nvSpPr>
          <p:cNvPr id="9" name="Shape"/>
          <p:cNvSpPr/>
          <p:nvPr/>
        </p:nvSpPr>
        <p:spPr>
          <a:xfrm>
            <a:off x="4183380" y="1805940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10" name="Text"/>
          <p:cNvSpPr/>
          <p:nvPr/>
        </p:nvSpPr>
        <p:spPr>
          <a:xfrm>
            <a:off x="4389120" y="19431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작업의 최소 단위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· 밸런싱 · 컴팩션 · 복구(Clone)가 모두 태블릿 단위로 수행됩니다.</a:t>
            </a:r>
            <a:endParaRPr lang="en-US" sz="1050" dirty="0"/>
          </a:p>
        </p:txBody>
      </p:sp>
      <p:sp>
        <p:nvSpPr>
          <p:cNvPr id="11" name="Shape"/>
          <p:cNvSpPr/>
          <p:nvPr/>
        </p:nvSpPr>
        <p:spPr>
          <a:xfrm>
            <a:off x="640080" y="3474720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12" name="Text"/>
          <p:cNvSpPr/>
          <p:nvPr/>
        </p:nvSpPr>
        <p:spPr>
          <a:xfrm>
            <a:off x="845820" y="36118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배치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FE가 태블릿을 여러 BE에 고르게 배치하고 위치·상태를 메타데이터로 추적합니다.</a:t>
            </a:r>
            <a:endParaRPr lang="en-US" sz="1050" dirty="0"/>
          </a:p>
        </p:txBody>
      </p:sp>
      <p:sp>
        <p:nvSpPr>
          <p:cNvPr id="13" name="Shape"/>
          <p:cNvSpPr/>
          <p:nvPr/>
        </p:nvSpPr>
        <p:spPr>
          <a:xfrm>
            <a:off x="4183380" y="3474720"/>
            <a:ext cx="3383280" cy="15087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14" name="Text"/>
          <p:cNvSpPr/>
          <p:nvPr/>
        </p:nvSpPr>
        <p:spPr>
          <a:xfrm>
            <a:off x="4389120" y="361188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적재할 때마다 태블릿에 rowset(버전)이 쌓이고, 컴팩션이 이를 병합합니다.</a:t>
            </a:r>
            <a:endParaRPr lang="en-US" sz="1050" dirty="0"/>
          </a:p>
        </p:txBody>
      </p:sp>
      <p:sp>
        <p:nvSpPr>
          <p:cNvPr id="15" name="Text"/>
          <p:cNvSpPr/>
          <p:nvPr/>
        </p:nvSpPr>
        <p:spPr>
          <a:xfrm>
            <a:off x="7840980" y="1805940"/>
            <a:ext cx="37109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행(Row) 1건이 태블릿에 도달하는 과정</a:t>
            </a:r>
            <a:endParaRPr lang="en-US" sz="1300" dirty="0"/>
          </a:p>
        </p:txBody>
      </p:sp>
      <p:sp>
        <p:nvSpPr>
          <p:cNvPr id="16" name="Shape"/>
          <p:cNvSpPr/>
          <p:nvPr/>
        </p:nvSpPr>
        <p:spPr>
          <a:xfrm>
            <a:off x="7840980" y="2262840"/>
            <a:ext cx="371094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</p:sp>
      <p:sp>
        <p:nvSpPr>
          <p:cNvPr id="17" name="Shape"/>
          <p:cNvSpPr/>
          <p:nvPr/>
        </p:nvSpPr>
        <p:spPr>
          <a:xfrm>
            <a:off x="7978140" y="2461722"/>
            <a:ext cx="402336" cy="40233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8" name="Text"/>
          <p:cNvSpPr/>
          <p:nvPr/>
        </p:nvSpPr>
        <p:spPr>
          <a:xfrm>
            <a:off x="7978140" y="24617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"/>
          <p:cNvSpPr/>
          <p:nvPr/>
        </p:nvSpPr>
        <p:spPr>
          <a:xfrm>
            <a:off x="8526780" y="2354280"/>
            <a:ext cx="28879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</a:t>
            </a: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b="1" dirty="0" err="1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키(예: 날짜)로 행이 속할 파티션 선택</a:t>
            </a:r>
            <a:endParaRPr lang="en-US" sz="1000" dirty="0"/>
          </a:p>
        </p:txBody>
      </p:sp>
      <p:sp>
        <p:nvSpPr>
          <p:cNvPr id="20" name="Shape"/>
          <p:cNvSpPr/>
          <p:nvPr/>
        </p:nvSpPr>
        <p:spPr>
          <a:xfrm>
            <a:off x="7840980" y="3200100"/>
            <a:ext cx="371094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</p:sp>
      <p:sp>
        <p:nvSpPr>
          <p:cNvPr id="21" name="Shape"/>
          <p:cNvSpPr/>
          <p:nvPr/>
        </p:nvSpPr>
        <p:spPr>
          <a:xfrm>
            <a:off x="7978140" y="3398982"/>
            <a:ext cx="402336" cy="40233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2" name="Text"/>
          <p:cNvSpPr/>
          <p:nvPr/>
        </p:nvSpPr>
        <p:spPr>
          <a:xfrm>
            <a:off x="7978140" y="33989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"/>
          <p:cNvSpPr/>
          <p:nvPr/>
        </p:nvSpPr>
        <p:spPr>
          <a:xfrm>
            <a:off x="8526780" y="3291540"/>
            <a:ext cx="28879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</a:t>
            </a: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b="1" dirty="0" err="1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hash(버킷 키) % 버킷 수 → 버킷 = 태블릿 1개 확정</a:t>
            </a:r>
            <a:endParaRPr lang="en-US" sz="1000" dirty="0"/>
          </a:p>
        </p:txBody>
      </p:sp>
      <p:sp>
        <p:nvSpPr>
          <p:cNvPr id="24" name="Shape"/>
          <p:cNvSpPr/>
          <p:nvPr/>
        </p:nvSpPr>
        <p:spPr>
          <a:xfrm>
            <a:off x="7840980" y="4137360"/>
            <a:ext cx="3710940" cy="80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</p:sp>
      <p:sp>
        <p:nvSpPr>
          <p:cNvPr id="25" name="Shape"/>
          <p:cNvSpPr/>
          <p:nvPr/>
        </p:nvSpPr>
        <p:spPr>
          <a:xfrm>
            <a:off x="7978140" y="4336242"/>
            <a:ext cx="402336" cy="40233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6" name="Text"/>
          <p:cNvSpPr/>
          <p:nvPr/>
        </p:nvSpPr>
        <p:spPr>
          <a:xfrm>
            <a:off x="7978140" y="43362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"/>
          <p:cNvSpPr/>
          <p:nvPr/>
        </p:nvSpPr>
        <p:spPr>
          <a:xfrm>
            <a:off x="8526780" y="4228800"/>
            <a:ext cx="28879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복제본</a:t>
            </a: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b="1" dirty="0" err="1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복제본 수만큼 서로 다른 BE의 태블릿에 기록</a:t>
            </a:r>
            <a:endParaRPr lang="en-US" sz="1000" dirty="0"/>
          </a:p>
        </p:txBody>
      </p:sp>
      <p:sp>
        <p:nvSpPr>
          <p:cNvPr id="28" name="Shape"/>
          <p:cNvSpPr/>
          <p:nvPr/>
        </p:nvSpPr>
        <p:spPr>
          <a:xfrm>
            <a:off x="640080" y="562356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/>
        </p:spPr>
      </p:sp>
      <p:sp>
        <p:nvSpPr>
          <p:cNvPr id="29" name="Text"/>
          <p:cNvSpPr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요점  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적재·조회·복구 성능은 결국 ‘태블릿이 몇 개이고, 각각 얼마나 큰가’로 결정됩니다.  그리고 그 수와 크기는 CREATE TABLE 시점의 설계가 좌우합니다. (다음 장)</a:t>
            </a:r>
            <a:endParaRPr lang="en-US" sz="1300" dirty="0"/>
          </a:p>
        </p:txBody>
      </p:sp>
      <p:sp>
        <p:nvSpPr>
          <p:cNvPr id="30" name="Text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 TABLE — 태블릿을 결정하는 옵션들</a:t>
            </a:r>
            <a:endParaRPr lang="en-US" sz="3000" dirty="0"/>
          </a:p>
        </p:txBody>
      </p:sp>
      <p:sp>
        <p:nvSpPr>
          <p:cNvPr id="3" name="Shape"/>
          <p:cNvSpPr/>
          <p:nvPr/>
        </p:nvSpPr>
        <p:spPr>
          <a:xfrm>
            <a:off x="640080" y="1234440"/>
            <a:ext cx="5852160" cy="4114800"/>
          </a:xfrm>
          <a:prstGeom prst="roundRect">
            <a:avLst>
              <a:gd name="adj" fmla="val 3429"/>
            </a:avLst>
          </a:prstGeom>
          <a:solidFill>
            <a:srgbClr val="141B45"/>
          </a:solidFill>
          <a:ln/>
        </p:spPr>
      </p:sp>
      <p:sp>
        <p:nvSpPr>
          <p:cNvPr id="4" name="Text"/>
          <p:cNvSpPr/>
          <p:nvPr/>
        </p:nvSpPr>
        <p:spPr>
          <a:xfrm>
            <a:off x="914400" y="1440180"/>
            <a:ext cx="53035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order_id BIGINT, user_id BIGINT,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dt DATETIME, amount DECIMAL(10,2))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KEY(order_id)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 date_trunc('day', dt)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 ① 파티션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 BY HASH(user_id)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 ② 버킷 키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BUCKETS 32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-- ③ 버킷 수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 ("replication_num" = "3",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 ④ 복제본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"partition_ttl" = "2 year");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-- 보관 2년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하루: 1 파티션 × 32 버킷 × 3 복제본 = 96개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보관 2년(730일): 96 × 730 = 70,080개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b="1" dirty="0">
                <a:solidFill>
                  <a:srgbClr val="8FC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논리(규칙)</a:t>
            </a:r>
            <a:r>
              <a:rPr lang="en-US" sz="1050" dirty="0">
                <a:solidFill>
                  <a:srgbClr val="8FC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PARTITION BY · HASH(키) · BUCKETS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b="1" dirty="0">
                <a:solidFill>
                  <a:srgbClr val="7FD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물리(실체)</a:t>
            </a:r>
            <a:r>
              <a:rPr lang="en-US" sz="1050" dirty="0">
                <a:solidFill>
                  <a:srgbClr val="7FD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태블릿 96개/일 · 2년 누적 70,080개</a:t>
            </a:r>
            <a:endParaRPr lang="en-US" sz="1050" dirty="0"/>
          </a:p>
        </p:txBody>
      </p:sp>
      <p:sp>
        <p:nvSpPr>
          <p:cNvPr id="5" name="Shape"/>
          <p:cNvSpPr/>
          <p:nvPr/>
        </p:nvSpPr>
        <p:spPr>
          <a:xfrm>
            <a:off x="6766560" y="1234440"/>
            <a:ext cx="4785360" cy="9372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6" name="Text"/>
          <p:cNvSpPr/>
          <p:nvPr/>
        </p:nvSpPr>
        <p:spPr>
          <a:xfrm>
            <a:off x="6972300" y="1348740"/>
            <a:ext cx="4373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PARTITION BY — </a:t>
            </a:r>
            <a:r>
              <a:rPr 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</a:t>
            </a: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행의 1차 분할 규칙. 파티션이 늘수록 태블릿 총량이 배수로 증가 → partition_ttl로 총량 관리(본 예시 2 year).</a:t>
            </a:r>
            <a:endParaRPr lang="en-US" sz="1050" dirty="0"/>
          </a:p>
        </p:txBody>
      </p:sp>
      <p:sp>
        <p:nvSpPr>
          <p:cNvPr id="7" name="Shape"/>
          <p:cNvSpPr/>
          <p:nvPr/>
        </p:nvSpPr>
        <p:spPr>
          <a:xfrm>
            <a:off x="6766560" y="2293620"/>
            <a:ext cx="4785360" cy="9372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8" name="Text"/>
          <p:cNvSpPr/>
          <p:nvPr/>
        </p:nvSpPr>
        <p:spPr>
          <a:xfrm>
            <a:off x="6972300" y="2407920"/>
            <a:ext cx="4373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HASH(버킷 키) — </a:t>
            </a:r>
            <a:r>
              <a:rPr 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행의</a:t>
            </a: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행선지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행이 어느 버킷(태블릿)에 갈지 정하는 규칙. 고카디널리티 컬럼으로 skew 방지.</a:t>
            </a:r>
            <a:endParaRPr lang="en-US" sz="1050" dirty="0"/>
          </a:p>
        </p:txBody>
      </p:sp>
      <p:sp>
        <p:nvSpPr>
          <p:cNvPr id="9" name="Shape"/>
          <p:cNvSpPr/>
          <p:nvPr/>
        </p:nvSpPr>
        <p:spPr>
          <a:xfrm>
            <a:off x="6766560" y="3352800"/>
            <a:ext cx="4785360" cy="9372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10" name="Text"/>
          <p:cNvSpPr/>
          <p:nvPr/>
        </p:nvSpPr>
        <p:spPr>
          <a:xfrm>
            <a:off x="6972300" y="3467100"/>
            <a:ext cx="4373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BUCKETS N — 파티션당 </a:t>
            </a:r>
            <a:r>
              <a:rPr 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</a:t>
            </a: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버킷 수 = 물리 태블릿 수. 주요 조정 파라미터. 권장 10~120개, 태블릿 1~10GB 목표 (생략 시 자동 산정).</a:t>
            </a:r>
            <a:endParaRPr lang="en-US" sz="1050" dirty="0"/>
          </a:p>
        </p:txBody>
      </p:sp>
      <p:sp>
        <p:nvSpPr>
          <p:cNvPr id="11" name="Shape"/>
          <p:cNvSpPr/>
          <p:nvPr/>
        </p:nvSpPr>
        <p:spPr>
          <a:xfrm>
            <a:off x="6766560" y="4411980"/>
            <a:ext cx="4785360" cy="93726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12" name="Text"/>
          <p:cNvSpPr/>
          <p:nvPr/>
        </p:nvSpPr>
        <p:spPr>
          <a:xfrm>
            <a:off x="6972300" y="4526280"/>
            <a:ext cx="437388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replication_num — </a:t>
            </a:r>
            <a:r>
              <a:rPr 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복제본</a:t>
            </a: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태블릿이 복제본 수만큼 서로 다른 BE에 저장. 총 태블릿 수에 그대로 곱해집니다(기본 3).</a:t>
            </a:r>
            <a:endParaRPr lang="en-US" sz="1050" dirty="0"/>
          </a:p>
        </p:txBody>
      </p:sp>
      <p:sp>
        <p:nvSpPr>
          <p:cNvPr id="13" name="Shape"/>
          <p:cNvSpPr/>
          <p:nvPr/>
        </p:nvSpPr>
        <p:spPr>
          <a:xfrm>
            <a:off x="640080" y="562356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/>
        </p:spPr>
      </p:sp>
      <p:sp>
        <p:nvSpPr>
          <p:cNvPr id="14" name="Text"/>
          <p:cNvSpPr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태블릿 수 = 파티션 수 × 버킷 수 × 복제본 수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CREATE TABLE 시점에 확정되므로 테이블 생성 전 설계 검토가 필요합니다.</a:t>
            </a:r>
            <a:endParaRPr lang="en-US" sz="1350" dirty="0"/>
          </a:p>
        </p:txBody>
      </p:sp>
      <p:sp>
        <p:nvSpPr>
          <p:cNvPr id="15" name="Text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 30대 클러스터 — 적재 시 태블릿 증가와 할당</a:t>
            </a:r>
            <a:endParaRPr lang="en-US" sz="3000" dirty="0"/>
          </a:p>
        </p:txBody>
      </p:sp>
      <p:sp>
        <p:nvSpPr>
          <p:cNvPr id="3" name="Text"/>
          <p:cNvSpPr/>
          <p:nvPr/>
        </p:nvSpPr>
        <p:spPr>
          <a:xfrm>
            <a:off x="64008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적재하면 태블릿은 언제 늘어나는가</a:t>
            </a:r>
            <a:endParaRPr lang="en-US" sz="1300" dirty="0"/>
          </a:p>
        </p:txBody>
      </p:sp>
      <p:sp>
        <p:nvSpPr>
          <p:cNvPr id="4" name="Shape"/>
          <p:cNvSpPr/>
          <p:nvPr/>
        </p:nvSpPr>
        <p:spPr>
          <a:xfrm>
            <a:off x="640080" y="164592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Shape"/>
          <p:cNvSpPr/>
          <p:nvPr/>
        </p:nvSpPr>
        <p:spPr>
          <a:xfrm>
            <a:off x="777240" y="199339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"/>
          <p:cNvSpPr/>
          <p:nvPr/>
        </p:nvSpPr>
        <p:spPr>
          <a:xfrm>
            <a:off x="77724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"/>
          <p:cNvSpPr/>
          <p:nvPr/>
        </p:nvSpPr>
        <p:spPr>
          <a:xfrm>
            <a:off x="1325880" y="17373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5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</a:t>
            </a:r>
            <a:r>
              <a:rPr 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파티션에</a:t>
            </a: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수는 그대로. 각 태블릿에 rowset(물리 파일·버전)만 +1 → 컴팩션이 이를 병합합니다.</a:t>
            </a:r>
            <a:endParaRPr lang="en-US" sz="1050" dirty="0"/>
          </a:p>
        </p:txBody>
      </p:sp>
      <p:sp>
        <p:nvSpPr>
          <p:cNvPr id="8" name="Shape"/>
          <p:cNvSpPr/>
          <p:nvPr/>
        </p:nvSpPr>
        <p:spPr>
          <a:xfrm>
            <a:off x="640080" y="288036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Shape"/>
          <p:cNvSpPr/>
          <p:nvPr/>
        </p:nvSpPr>
        <p:spPr>
          <a:xfrm>
            <a:off x="777240" y="32278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"/>
          <p:cNvSpPr/>
          <p:nvPr/>
        </p:nvSpPr>
        <p:spPr>
          <a:xfrm>
            <a:off x="777240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"/>
          <p:cNvSpPr/>
          <p:nvPr/>
        </p:nvSpPr>
        <p:spPr>
          <a:xfrm>
            <a:off x="1325880" y="2971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5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파티션이 </a:t>
            </a:r>
            <a:r>
              <a:rPr lang="en-US" sz="12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생길</a:t>
            </a: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구조(파티션)가 생기는 순간, 버킷 수 × 복제본 수 = 32 × 3 = 96개의 물리 태블릿이 한꺼번에 새로 생깁니다.</a:t>
            </a:r>
            <a:endParaRPr lang="en-US" sz="1050" dirty="0"/>
          </a:p>
        </p:txBody>
      </p:sp>
      <p:sp>
        <p:nvSpPr>
          <p:cNvPr id="12" name="Shape"/>
          <p:cNvSpPr/>
          <p:nvPr/>
        </p:nvSpPr>
        <p:spPr>
          <a:xfrm>
            <a:off x="640080" y="4114800"/>
            <a:ext cx="53035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Shape"/>
          <p:cNvSpPr/>
          <p:nvPr/>
        </p:nvSpPr>
        <p:spPr>
          <a:xfrm>
            <a:off x="777240" y="446227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"/>
          <p:cNvSpPr/>
          <p:nvPr/>
        </p:nvSpPr>
        <p:spPr>
          <a:xfrm>
            <a:off x="77724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"/>
          <p:cNvSpPr/>
          <p:nvPr/>
        </p:nvSpPr>
        <p:spPr>
          <a:xfrm>
            <a:off x="1325880" y="42062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5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누적 (일 파티션)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BUCKETS 32 · 복제본 3 기준 → 하루마다 태블릿 +96개, 보관 2년(730일)이면 이 테이블만 70,080개.</a:t>
            </a:r>
            <a:endParaRPr lang="en-US" sz="1050" dirty="0"/>
          </a:p>
        </p:txBody>
      </p:sp>
      <p:sp>
        <p:nvSpPr>
          <p:cNvPr id="16" name="Text"/>
          <p:cNvSpPr/>
          <p:nvPr/>
        </p:nvSpPr>
        <p:spPr>
          <a:xfrm>
            <a:off x="6217920" y="1234440"/>
            <a:ext cx="533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 30대에는 어떻게 할당되는가</a:t>
            </a:r>
            <a:r>
              <a:rPr lang="en-US" sz="11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(물리 배치)</a:t>
            </a:r>
            <a:endParaRPr lang="en-US" sz="1300" dirty="0"/>
          </a:p>
        </p:txBody>
      </p:sp>
      <p:sp>
        <p:nvSpPr>
          <p:cNvPr id="17" name="Shape"/>
          <p:cNvSpPr/>
          <p:nvPr/>
        </p:nvSpPr>
        <p:spPr>
          <a:xfrm>
            <a:off x="6217920" y="1645920"/>
            <a:ext cx="5334000" cy="502920"/>
          </a:xfrm>
          <a:prstGeom prst="roundRect">
            <a:avLst>
              <a:gd name="adj" fmla="val 10000"/>
            </a:avLst>
          </a:prstGeom>
          <a:solidFill>
            <a:srgbClr val="141B45"/>
          </a:solidFill>
          <a:ln/>
        </p:spPr>
      </p:sp>
      <p:sp>
        <p:nvSpPr>
          <p:cNvPr id="18" name="Text"/>
          <p:cNvSpPr/>
          <p:nvPr/>
        </p:nvSpPr>
        <p:spPr>
          <a:xfrm>
            <a:off x="6217920" y="1645920"/>
            <a:ext cx="533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FC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 </a:t>
            </a: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파티션 p20260827</a:t>
            </a:r>
            <a:r>
              <a:rPr lang="en-US" sz="1150" dirty="0">
                <a:solidFill>
                  <a:srgbClr val="F5C8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(버킷 32개 정의)</a:t>
            </a:r>
            <a:endParaRPr lang="en-US" sz="1150" dirty="0"/>
          </a:p>
        </p:txBody>
      </p:sp>
      <p:sp>
        <p:nvSpPr>
          <p:cNvPr id="19" name="Text"/>
          <p:cNvSpPr/>
          <p:nvPr/>
        </p:nvSpPr>
        <p:spPr>
          <a:xfrm>
            <a:off x="6217920" y="2194560"/>
            <a:ext cx="533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 </a:t>
            </a:r>
            <a:r>
              <a:rPr lang="en-US" sz="105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태블릿 96개(32×3) 생성</a:t>
            </a:r>
            <a:r>
              <a:rPr lang="en-US" sz="105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FE가 노드별 수·용량 균등하게 분산  ↓</a:t>
            </a:r>
            <a:endParaRPr lang="en-US" sz="1050" dirty="0"/>
          </a:p>
        </p:txBody>
      </p:sp>
      <p:sp>
        <p:nvSpPr>
          <p:cNvPr id="20" name="Shape"/>
          <p:cNvSpPr/>
          <p:nvPr/>
        </p:nvSpPr>
        <p:spPr>
          <a:xfrm>
            <a:off x="6217920" y="2514600"/>
            <a:ext cx="1230630" cy="59436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1" name="Text"/>
          <p:cNvSpPr/>
          <p:nvPr/>
        </p:nvSpPr>
        <p:spPr>
          <a:xfrm>
            <a:off x="6217920" y="2583180"/>
            <a:ext cx="1230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 1</a:t>
            </a:r>
            <a:endParaRPr lang="en-US" sz="11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3.2개/일</a:t>
            </a:r>
            <a:endParaRPr lang="en-US" sz="950" dirty="0"/>
          </a:p>
        </p:txBody>
      </p:sp>
      <p:sp>
        <p:nvSpPr>
          <p:cNvPr id="22" name="Shape"/>
          <p:cNvSpPr/>
          <p:nvPr/>
        </p:nvSpPr>
        <p:spPr>
          <a:xfrm>
            <a:off x="7585710" y="2514600"/>
            <a:ext cx="1230630" cy="59436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"/>
          <p:cNvSpPr/>
          <p:nvPr/>
        </p:nvSpPr>
        <p:spPr>
          <a:xfrm>
            <a:off x="7585710" y="2583180"/>
            <a:ext cx="1230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 2</a:t>
            </a:r>
            <a:endParaRPr lang="en-US" sz="11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3.2개/일</a:t>
            </a:r>
            <a:endParaRPr lang="en-US" sz="950" dirty="0"/>
          </a:p>
        </p:txBody>
      </p:sp>
      <p:sp>
        <p:nvSpPr>
          <p:cNvPr id="24" name="Shape"/>
          <p:cNvSpPr/>
          <p:nvPr/>
        </p:nvSpPr>
        <p:spPr>
          <a:xfrm>
            <a:off x="8953500" y="2514600"/>
            <a:ext cx="1230630" cy="59436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"/>
          <p:cNvSpPr/>
          <p:nvPr/>
        </p:nvSpPr>
        <p:spPr>
          <a:xfrm>
            <a:off x="8953500" y="2583180"/>
            <a:ext cx="1230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⋯</a:t>
            </a:r>
            <a:endParaRPr lang="en-US" sz="1150" dirty="0"/>
          </a:p>
        </p:txBody>
      </p:sp>
      <p:sp>
        <p:nvSpPr>
          <p:cNvPr id="26" name="Shape"/>
          <p:cNvSpPr/>
          <p:nvPr/>
        </p:nvSpPr>
        <p:spPr>
          <a:xfrm>
            <a:off x="10321290" y="2514600"/>
            <a:ext cx="1230630" cy="59436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"/>
          <p:cNvSpPr/>
          <p:nvPr/>
        </p:nvSpPr>
        <p:spPr>
          <a:xfrm>
            <a:off x="10321290" y="2583180"/>
            <a:ext cx="12306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 30</a:t>
            </a:r>
            <a:endParaRPr lang="en-US" sz="11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3.2개/일</a:t>
            </a:r>
            <a:endParaRPr lang="en-US" sz="950" dirty="0"/>
          </a:p>
        </p:txBody>
      </p:sp>
      <p:sp>
        <p:nvSpPr>
          <p:cNvPr id="28" name="Shape"/>
          <p:cNvSpPr/>
          <p:nvPr/>
        </p:nvSpPr>
        <p:spPr>
          <a:xfrm>
            <a:off x="6217920" y="3291840"/>
            <a:ext cx="5334000" cy="19202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/>
        </p:spPr>
      </p:sp>
      <p:sp>
        <p:nvSpPr>
          <p:cNvPr id="29" name="Text"/>
          <p:cNvSpPr/>
          <p:nvPr/>
        </p:nvSpPr>
        <p:spPr>
          <a:xfrm>
            <a:off x="6446520" y="3451860"/>
            <a:ext cx="4876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96개 ÷ 30대 ≈ CN당 3.2개/일 → 보관 2년(730일) 누적 70,080개면 CN당 2,336개</a:t>
            </a:r>
            <a:endParaRPr lang="en-US" sz="10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기준: 노드별 태블릿 개수·디스크(캐시) 사용량 균형 (라운드로빈 방식)</a:t>
            </a:r>
            <a:endParaRPr lang="en-US" sz="10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 증설·축소 시 태블릿을 자동 리밸런싱(재할당·이동)해 균형 회복</a:t>
            </a:r>
            <a:endParaRPr lang="en-US" sz="10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예시는 복제본 3(BE 방식) 기준. 공유 데이터(CN) 구조는 실데이터가 오브젝트 스토리지에 1벌이라 복제본 1이 일반적 → 총량은 1/3로 계산</a:t>
            </a:r>
            <a:endParaRPr lang="en-US" sz="1050" dirty="0"/>
          </a:p>
        </p:txBody>
      </p:sp>
      <p:sp>
        <p:nvSpPr>
          <p:cNvPr id="30" name="Shape"/>
          <p:cNvSpPr/>
          <p:nvPr/>
        </p:nvSpPr>
        <p:spPr>
          <a:xfrm>
            <a:off x="640080" y="562356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/>
        </p:spPr>
      </p:sp>
      <p:sp>
        <p:nvSpPr>
          <p:cNvPr id="31" name="Text"/>
          <p:cNvSpPr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요점  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자체는 태블릿이 아니라 버전(rowset)을 늘리고, 태블릿이 늘어나는 순간은 ‘새 파티션 생성’ 시점입니다.  노드당 태블릿 수는 ‘파티션 증가 속도 × 버킷 수 ÷ 노드 수’로 예측할 수 있습니다.</a:t>
            </a:r>
            <a:endParaRPr lang="en-US" sz="1300" dirty="0"/>
          </a:p>
        </p:txBody>
      </p:sp>
      <p:sp>
        <p:nvSpPr>
          <p:cNvPr id="32" name="Text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기준 (공식 가이드)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611880" cy="283464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/>
          <a:effectLst>
            <a:outerShdw blurRad="76200" dist="25400" dir="5400000" algn="bl" rotWithShape="0">
              <a:srgbClr val="AAB4C4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~ 120개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파티션당 버킷 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버킷이 너무 적으면 병렬성·적재 성능 저하, 너무 많으면 메타데이터와 작은 파일이 폭증합니다.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463040"/>
            <a:ext cx="3611880" cy="283464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/>
          <a:effectLst>
            <a:outerShdw blurRad="76200" dist="25400" dir="5400000" algn="bl" rotWithShape="0">
              <a:srgbClr val="AAB4C4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1691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~ 10 GB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1개당 크기 (압축 기준)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3063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 권장 범위. 이 범위를 유지하도록 버킷 수를 산정하고, 벗어나면 조정합니다.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1463040"/>
            <a:ext cx="3611880" cy="2834640"/>
          </a:xfrm>
          <a:prstGeom prst="roundRect">
            <a:avLst>
              <a:gd name="adj" fmla="val 3871"/>
            </a:avLst>
          </a:prstGeom>
          <a:solidFill>
            <a:srgbClr val="F5F6F8"/>
          </a:solidFill>
          <a:ln/>
          <a:effectLst>
            <a:outerShdw blurRad="76200" dist="25400" dir="5400000" algn="bl" rotWithShape="0">
              <a:srgbClr val="AAB4C4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16916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BE수 × 코어 ÷ 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641080" y="2606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수 산정 참고 공식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0" y="30632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클러스터에서 자원 활용을 극대화할 때의 참고치. 데이터량 기반 산정과 병행합니다.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1092708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수 산정 예시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예상 데이터 500GB(압축) ÷ 목표 태블릿 5GB = </a:t>
            </a:r>
            <a:r>
              <a:rPr lang="en-US" sz="13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버킷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 권장 범위(10~120개) 안이므로 OK.  범위를 넘으면 파티션 단위를 더 잘게(일→시간 등) 나눕니다.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 기준 — 점검 필요 조건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FDEDEB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7373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노드당 태블릿 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200,000개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메타데이터·메모리 사용량 급증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컴팩션 대상 폭증 → 스케줄링 지연·병목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태블릿별 memtable 등 적재 오버헤드 누적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FDEDEB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73736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64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1개 크기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2377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10 GB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12280" y="338328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컴팩션 작업이 장시간·대용량화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복제본 복구(Clone)·밸런싱 시간 증가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병렬성 저하로 조회 성능 악화 가능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715000"/>
            <a:ext cx="10927080" cy="68580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7150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영향  </a:t>
            </a: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경우 모두 컴팩션이 적재 속도를 따라가지 못해 버전(rowset) 누적 → 적재 실패·조회 지연으로 이어질 수 있습니다.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컴팩션 문제로 이어지는가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컴팩션 동작 원리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6642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적재(Load)할 때마다 태블릿에 새 버전(rowset) 생성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194560"/>
            <a:ext cx="0" cy="566928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6883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버전이 쌓일수록 조회 시 읽어야 할 파일 수 증가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218688"/>
            <a:ext cx="0" cy="566928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37856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71246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컴팩션이 작은 버전들을 큰 파일로 병합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242816"/>
            <a:ext cx="0" cy="566928"/>
          </a:xfrm>
          <a:prstGeom prst="line">
            <a:avLst/>
          </a:prstGeom>
          <a:noFill/>
          <a:ln w="25400">
            <a:solidFill>
              <a:srgbClr val="CADCF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48097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73659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 속도 &lt; 적재 속도 → Compaction Score 상승, 장애 위험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2648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상태가 컴팩션에 미치는 영향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17373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B977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977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태블릿이 너무 많으면 (과다)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0" y="2194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태블릿마다 독립적으로 컴팩션이 돌기 때문에 CPU·I/O·메모리 오버헤드가 배수로 증가하고, FE 메타데이터가 비대해져 스케줄링 자체가 병목이 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33375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4472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태블릿이 너무 크면 (&gt;10GB)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0" y="3794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컴팩션이 수십 GB를 다시 쓰는 작업이 되어 오래 걸리고 실패·재시도가 잦아지며, 그동안 버전이 계속 누적됩니다.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5029200"/>
            <a:ext cx="5440680" cy="1051560"/>
          </a:xfrm>
          <a:prstGeom prst="roundRect">
            <a:avLst>
              <a:gd name="adj" fmla="val 8696"/>
            </a:avLst>
          </a:prstGeom>
          <a:solidFill>
            <a:srgbClr val="F5F6F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0292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지표  </a:t>
            </a:r>
            <a:r>
              <a:rPr lang="en-US" sz="12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Compaction Score가 높을수록 병합이 지연된 상태. 공식 알림 가이드는 최대 스코어 100 초과 시 경보를 권장합니다.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BE의 디스크 저장 방식 — </a:t>
            </a:r>
            <a:r>
              <a:rPr lang="en-US" sz="3000" b="1" dirty="0" err="1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태블릿과</a:t>
            </a: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000" b="1" dirty="0" err="1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rowset</a:t>
            </a:r>
            <a:endParaRPr lang="en-US" sz="3000" dirty="0"/>
          </a:p>
        </p:txBody>
      </p:sp>
      <p:sp>
        <p:nvSpPr>
          <p:cNvPr id="3" name="Shape"/>
          <p:cNvSpPr/>
          <p:nvPr/>
        </p:nvSpPr>
        <p:spPr>
          <a:xfrm>
            <a:off x="640080" y="1234440"/>
            <a:ext cx="6446520" cy="4114800"/>
          </a:xfrm>
          <a:prstGeom prst="roundRect">
            <a:avLst>
              <a:gd name="adj" fmla="val 3429"/>
            </a:avLst>
          </a:prstGeom>
          <a:solidFill>
            <a:srgbClr val="141B45"/>
          </a:solidFill>
          <a:ln/>
        </p:spPr>
      </p:sp>
      <p:sp>
        <p:nvSpPr>
          <p:cNvPr id="4" name="Text"/>
          <p:cNvSpPr/>
          <p:nvPr/>
        </p:nvSpPr>
        <p:spPr>
          <a:xfrm>
            <a:off x="914400" y="1417320"/>
            <a:ext cx="5897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/data/starrocks/be/storage/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← 실제 컬럼 데이터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132/10021/1391246/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← shard/Tablet 0/schema_hash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020000000001_0.dat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← rowset 0200...01, segment 0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    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(컬럼별 페이지+인덱스+footer · ~2.5만 행)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517/10024/1391246/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← Tablet 3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020000000001_0.dat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← 이름 같아도 독립 rowset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809/10028/1391246/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← Tablet 7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020000000001_0.dat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meta/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← RocksDB (LSM 파일)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· TabletMeta(10021) = {schema, 유효 버전 [1..2]}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· RowsetMeta(10021, 0200...01) = {ver [2,2], 25k rows}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· TabletMeta · RowsetMeta (10024 · 10028) 동일 구조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trash/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← drop된 tablet 임시 보관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snapshot/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← 백업·복제용 스냅샷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clone/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← 복제본 복구 작업용</a:t>
            </a:r>
            <a:endParaRPr lang="en-US" sz="10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log/</a:t>
            </a:r>
            <a:r>
              <a:rPr lang="en-US" sz="1050" dirty="0">
                <a:solidFill>
                  <a:srgbClr val="8FA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← be.INFO 등 로그</a:t>
            </a:r>
            <a:endParaRPr lang="en-US" sz="1050" dirty="0"/>
          </a:p>
        </p:txBody>
      </p:sp>
      <p:sp>
        <p:nvSpPr>
          <p:cNvPr id="5" name="Shape"/>
          <p:cNvSpPr/>
          <p:nvPr/>
        </p:nvSpPr>
        <p:spPr>
          <a:xfrm>
            <a:off x="7315200" y="1234440"/>
            <a:ext cx="4236720" cy="1234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6" name="Text"/>
          <p:cNvSpPr/>
          <p:nvPr/>
        </p:nvSpPr>
        <p:spPr>
          <a:xfrm>
            <a:off x="7543800" y="1371600"/>
            <a:ext cx="377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 — 데이터 파일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규칙: shard(= tablet_id % 1024) → tablet_id → schema_hash. 파일명은 {rowset_id}_{segment_id}.dat, 같은 테이블의 태블릿은 schema_hash가 동일합니다.</a:t>
            </a:r>
            <a:endParaRPr lang="en-US" sz="1100" dirty="0"/>
          </a:p>
        </p:txBody>
      </p:sp>
      <p:sp>
        <p:nvSpPr>
          <p:cNvPr id="7" name="Shape"/>
          <p:cNvSpPr/>
          <p:nvPr/>
        </p:nvSpPr>
        <p:spPr>
          <a:xfrm>
            <a:off x="7315200" y="2674620"/>
            <a:ext cx="4236720" cy="123444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/>
        </p:spPr>
      </p:sp>
      <p:sp>
        <p:nvSpPr>
          <p:cNvPr id="8" name="Text"/>
          <p:cNvSpPr/>
          <p:nvPr/>
        </p:nvSpPr>
        <p:spPr>
          <a:xfrm>
            <a:off x="7543800" y="2811780"/>
            <a:ext cx="377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meta/ — RocksDB 메타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TabletMeta(스키마·상태·유효 버전)와 RowsetMeta(버전 범위·행 수·세그먼트 수)를 기록. 데이터(.dat)와 메타데이터가 분리 저장됩니다.</a:t>
            </a:r>
            <a:endParaRPr lang="en-US" sz="1100" dirty="0"/>
          </a:p>
        </p:txBody>
      </p:sp>
      <p:sp>
        <p:nvSpPr>
          <p:cNvPr id="9" name="Shape"/>
          <p:cNvSpPr/>
          <p:nvPr/>
        </p:nvSpPr>
        <p:spPr>
          <a:xfrm>
            <a:off x="7315200" y="4114800"/>
            <a:ext cx="4236720" cy="1234440"/>
          </a:xfrm>
          <a:prstGeom prst="roundRect">
            <a:avLst>
              <a:gd name="adj" fmla="val 8000"/>
            </a:avLst>
          </a:prstGeom>
          <a:solidFill>
            <a:srgbClr val="F7F4F4"/>
          </a:solidFill>
          <a:ln/>
        </p:spPr>
      </p:sp>
      <p:sp>
        <p:nvSpPr>
          <p:cNvPr id="10" name="Text"/>
          <p:cNvSpPr/>
          <p:nvPr/>
        </p:nvSpPr>
        <p:spPr>
          <a:xfrm>
            <a:off x="7543800" y="4251960"/>
            <a:ext cx="377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— 파일명 해석</a:t>
            </a:r>
            <a:endParaRPr lang="en-US" sz="125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rowset_id는 BE 로컬에서 채번되므로 서로 다른 Tablet의 파일명이 0200...01로 같아 보여도 각각 독립적인 rowset입니다 (내용물 다름).</a:t>
            </a:r>
            <a:endParaRPr lang="en-US" sz="1100" dirty="0"/>
          </a:p>
        </p:txBody>
      </p:sp>
      <p:sp>
        <p:nvSpPr>
          <p:cNvPr id="11" name="Shape"/>
          <p:cNvSpPr/>
          <p:nvPr/>
        </p:nvSpPr>
        <p:spPr>
          <a:xfrm>
            <a:off x="640080" y="562356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/>
        </p:spPr>
      </p:sp>
      <p:sp>
        <p:nvSpPr>
          <p:cNvPr id="12" name="Text"/>
          <p:cNvSpPr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요점  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적재(Load) 1회 = Tablet마다 rowset 1개(.dat 파일) 생성.  적재가 잦을수록 rowset(버전) 파일이 늘어나고, 이를 큰 파일로 다시 병합하는 작업이 바로 컴팩션입니다.</a:t>
            </a:r>
            <a:endParaRPr lang="en-US" sz="1300" dirty="0"/>
          </a:p>
        </p:txBody>
      </p:sp>
      <p:sp>
        <p:nvSpPr>
          <p:cNvPr id="13" name="Text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950" name="Chip"/>
          <p:cNvSpPr/>
          <p:nvPr/>
        </p:nvSpPr>
        <p:spPr>
          <a:xfrm>
            <a:off x="4937760" y="491490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5F6F8"/>
          </a:solidFill>
          <a:ln/>
        </p:spPr>
      </p:sp>
      <p:sp>
        <p:nvSpPr>
          <p:cNvPr id="960" name="ChipText"/>
          <p:cNvSpPr/>
          <p:nvPr/>
        </p:nvSpPr>
        <p:spPr>
          <a:xfrm>
            <a:off x="4937760" y="49149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구조 — 디스크 실체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</a:t>
            </a:r>
            <a:r>
              <a:rPr lang="en-US" sz="30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0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시 디스크 변화 검토</a:t>
            </a:r>
            <a:endParaRPr lang="en-US" sz="3000" dirty="0"/>
          </a:p>
        </p:txBody>
      </p:sp>
      <p:sp>
        <p:nvSpPr>
          <p:cNvPr id="3" name="Shape"/>
          <p:cNvSpPr/>
          <p:nvPr/>
        </p:nvSpPr>
        <p:spPr>
          <a:xfrm>
            <a:off x="640080" y="1234440"/>
            <a:ext cx="6903720" cy="4114800"/>
          </a:xfrm>
          <a:prstGeom prst="roundRect">
            <a:avLst>
              <a:gd name="adj" fmla="val 3429"/>
            </a:avLst>
          </a:prstGeom>
          <a:solidFill>
            <a:srgbClr val="141B45"/>
          </a:solidFill>
          <a:ln/>
        </p:spPr>
      </p:sp>
      <p:sp>
        <p:nvSpPr>
          <p:cNvPr id="4" name="Text"/>
          <p:cNvSpPr/>
          <p:nvPr/>
        </p:nvSpPr>
        <p:spPr>
          <a:xfrm>
            <a:off x="914400" y="1417320"/>
            <a:ext cx="6355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① 테이블 생성: 일 파티션 · 버킷 32 · 복제본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student_score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student_id BIGINT NOT NULL, student_name VARCHAR(64),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 VARCHAR(32), score INT, exam_date DATE)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KEY(student_id)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PARTITION BY date_trunc('day', exam_date)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DISTRIBUTED BY HASH(student_id) BUCKETS 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PROPERTIES ("replication_num" = "3",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"partition_ttl" = "2 year");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② 단일 로드: 80만 행, 같은 날짜 → 파티션 1개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student_score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id, concat('student_', id),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id%4 WHEN 0 THEN 'math' WHEN 1 THEN 'english'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WHEN 2 THEN 'science' ELSE 'history' END,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cast(rand()*100 AS INT), date('2026-08-27')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TABLE(generate_series(1, 800000)) AS t(id);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C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③ 확인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TABLETS FROM student_score;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TABLET 10021;  -- DetailCmd로 rowset 목록 확인</a:t>
            </a:r>
            <a:endParaRPr lang="en-US" sz="1000" dirty="0"/>
          </a:p>
        </p:txBody>
      </p:sp>
      <p:sp>
        <p:nvSpPr>
          <p:cNvPr id="5" name="Shape"/>
          <p:cNvSpPr/>
          <p:nvPr/>
        </p:nvSpPr>
        <p:spPr>
          <a:xfrm>
            <a:off x="7818120" y="1234440"/>
            <a:ext cx="3733800" cy="41148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6" name="Text"/>
          <p:cNvSpPr/>
          <p:nvPr/>
        </p:nvSpPr>
        <p:spPr>
          <a:xfrm>
            <a:off x="8046720" y="1440180"/>
            <a:ext cx="3276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↔ 디스크 구조 대응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1개(하루치) × 버킷 32 × 복제본 3 = 태블릿 96개</a:t>
            </a:r>
            <a:endParaRPr lang="en-US" sz="1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 태블릿 32개가 BE 3대에 각 1벌씩 복제 → BE당 32개 (왼쪽 트리는 그중 1대)</a:t>
            </a:r>
            <a:endParaRPr lang="en-US" sz="1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 직후: 디렉터리·TabletMeta만 존재, 유효 버전 [1..1]</a:t>
            </a:r>
            <a:endParaRPr lang="en-US" sz="1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INSERT 커밋 = 버전 2 → Tablet마다 020000000001_0.dat 1개 (약 2.5만 행)</a:t>
            </a:r>
            <a:endParaRPr lang="en-US" sz="1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HASH(student_id)가 행을 32개 버킷에 균등 분배 · shard = tablet_id % 1024</a:t>
            </a:r>
            <a:endParaRPr lang="en-US" sz="11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2년(730일) 누적 시 이 테이블만 태블릿 70,080개</a:t>
            </a:r>
            <a:endParaRPr lang="en-US" sz="1100" dirty="0"/>
          </a:p>
        </p:txBody>
      </p:sp>
      <p:sp>
        <p:nvSpPr>
          <p:cNvPr id="7" name="Shape"/>
          <p:cNvSpPr/>
          <p:nvPr/>
        </p:nvSpPr>
        <p:spPr>
          <a:xfrm>
            <a:off x="640080" y="562356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F7F4F4"/>
          </a:solidFill>
          <a:ln/>
        </p:spPr>
      </p:sp>
      <p:sp>
        <p:nvSpPr>
          <p:cNvPr id="8" name="Text"/>
          <p:cNvSpPr/>
          <p:nvPr/>
        </p:nvSpPr>
        <p:spPr>
          <a:xfrm>
            <a:off x="914400" y="5623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INSERT를 여러 번 나눠 실행하면 로드 횟수만큼 rowset 파일이 늘어나고(0200...02, 03 …) 백그라운드 컴팩션이 이를 다시 병합합니다.  ‘태블릿당 파일 1개’는 단일 로드 직후(또는 컴팩션 완료 후)의 모습입니다.</a:t>
            </a:r>
            <a:endParaRPr lang="en-US" sz="1300" dirty="0"/>
          </a:p>
        </p:txBody>
      </p:sp>
      <p:sp>
        <p:nvSpPr>
          <p:cNvPr id="9" name="Text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</a:t>
            </a:r>
            <a:r>
              <a:rPr lang="en-US" sz="3000" b="1" dirty="0" smtClean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진단하기 — 점검 쿼리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3950208"/>
        </p:xfrm>
        <a:graphic>
          <a:graphicData uri="http://schemas.openxmlformats.org/drawingml/2006/table">
            <a:tbl>
              <a:tblPr/>
              <a:tblGrid>
                <a:gridCol w="2377440"/>
                <a:gridCol w="4617720"/>
                <a:gridCol w="3931920"/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명령어 / 방법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포인트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BE별 태블릿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PROC '/backends';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TabletNum 이 노드당 20만 개에 근접하는지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테이블·파티션별 버킷 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PARTITIONS FROM &lt;table&gt;;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Buckets 가 10~120 범위인지, DataSize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태블릿 평균 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DataSize ÷ Buckets (÷ 복제본 수)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파티션별 평균 태블릿이 1~10GB인지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개별 태블릿 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TABLET FROM &lt;table&gt;;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DataSize 10GB 초과 태블릿 존재 여부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컴팩션 압력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PROC '/compactions';  + Grafana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Compaction Score 추이, 100 초과 경보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669280"/>
            <a:ext cx="10927080" cy="731520"/>
          </a:xfrm>
          <a:prstGeom prst="roundRect">
            <a:avLst>
              <a:gd name="adj" fmla="val 12500"/>
            </a:avLst>
          </a:prstGeom>
          <a:solidFill>
            <a:srgbClr val="E8F6EF"/>
          </a:solidFill>
          <a:ln/>
        </p:spPr>
      </p:sp>
      <p:sp>
        <p:nvSpPr>
          <p:cNvPr id="2" name="Text 4"/>
          <p:cNvSpPr/>
          <p:nvPr/>
        </p:nvSpPr>
        <p:spPr>
          <a:xfrm>
            <a:off x="914400" y="5669280"/>
            <a:ext cx="10378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 </a:t>
            </a:r>
            <a:r>
              <a:rPr lang="en-US" sz="13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쿼리를 배치화하여 주간 리포트로 자동 수집하면, 임계 기준 도달 전에 추세로 미리 감지할 수 있습니다.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방안 — 상황별 조치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B9770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4592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B9770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태블릿이 과다할 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오래된 파티션 삭제·TTL(partition_ttl) 적용으로 총량 축소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수가 과한 테이블은 ALTER TABLE로 버킷 축소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소용량 테이블은 파티셔닝 없이 단순 설계 유지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64592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45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태블릿이 과대할 때 (&gt;10GB)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23317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ALTER TABLE ... DISTRIBUTED BY 로 버킷 수 증가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단위 세분화 (월 → 일, 일 → 시간)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키 데이터 쏠림(skew) 여부 점검 후 키 변경 검토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1417320"/>
            <a:ext cx="36118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41080" y="1645920"/>
            <a:ext cx="3154680" cy="502920"/>
          </a:xfrm>
          <a:prstGeom prst="roundRect">
            <a:avLst>
              <a:gd name="adj" fmla="val 14545"/>
            </a:avLst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1645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단계 예방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23317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수 미지정 시 자동 산정 활용 (v3.x 이후)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Duplicate Key 테이블은 랜덤 버킷 + bucket_size 설정으로 자동 분할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고카디널리티 컬럼을 버킷 키로 선택해 skew 방지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927080" cy="1463040"/>
          </a:xfrm>
          <a:prstGeom prst="roundRect">
            <a:avLst>
              <a:gd name="adj" fmla="val 6250"/>
            </a:avLst>
          </a:prstGeom>
          <a:solidFill>
            <a:srgbClr val="141B4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02920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버킷 수 조정 (신규 생성되는 파티션부터 적용)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orders DISTRIBUTED BY HASH(user_id) BUCKETS 60;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랜덤 버킷 + 1GB 단위 자동 분할 (Duplicate Key, v3.2+)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logs (...) DUPLICATE KEY(dt) PARTITION BY date_trunc('day', dt) PROPERTIES("bucket_size"="1073741824");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체크리스트 &amp; 모니터링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64792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647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5727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BE별 TabletNum 추세 확인 — 20만 개 대비 여유율 관리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64792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7647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15727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대용량 테이블의 파티션당 버킷 수(10~120) 검수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136392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363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9443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파티션별 평균 태블릿 크기 산출 — 1~10GB 이탈 테이블 리스트업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28346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136392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1363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29443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Grafana에서 Compaction Score 대시보드 + 100 초과 경보 설정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4507992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5079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3159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태블릿 버전(rowset) 수 경보 — BE당 최대 버전 700 초과 시 알림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42062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4507992"/>
            <a:ext cx="8686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50799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43159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신규 생성·대량 적재 전 버킷 설계 리뷰를 필수 절차화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임계값 참고: StarRocks 공식 Monitor &amp; Alert 가이드 (Compaction Score &gt; 100, tablet max versions &gt; 700)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&amp; 액션 아이템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5544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내재화   </a:t>
            </a:r>
            <a:r>
              <a:rPr lang="en-US" sz="14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파티션당 버킷 10~120개, 태블릿 1~10GB를 팀 설계 표준으로 문서화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26060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   </a:t>
            </a:r>
            <a:r>
              <a:rPr lang="en-US" sz="14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SHOW PROC '/backends' 등으로 BE별 태블릿 수·크기 전수 점검 (이번 주)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657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경보 구축   </a:t>
            </a:r>
            <a:r>
              <a:rPr lang="en-US" sz="14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Grafana에 TabletNum·Compaction Score 대시보드와 경보 추가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47091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실행   </a:t>
            </a:r>
            <a:r>
              <a:rPr lang="en-US" sz="1400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 기준 초과 테이블부터 버킷 조정·파티션 세분화·TTL 적용 순차 진행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5943600"/>
            <a:ext cx="10515600" cy="54864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“태블릿 개수와 크기를 관리하는 것이 곧 컴팩션과 클러스터 안정성을 관리하는 것”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2354</Words>
  <Application>Microsoft Office PowerPoint</Application>
  <PresentationFormat>사용자 지정</PresentationFormat>
  <Paragraphs>288</Paragraphs>
  <Slides>14</Slides>
  <Notes>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taos9938</cp:lastModifiedBy>
  <cp:revision>9</cp:revision>
  <dcterms:created xsi:type="dcterms:W3CDTF">2026-08-11T21:54:31Z</dcterms:created>
  <dcterms:modified xsi:type="dcterms:W3CDTF">2026-08-26T16:28:40Z</dcterms:modified>
</cp:coreProperties>
</file>